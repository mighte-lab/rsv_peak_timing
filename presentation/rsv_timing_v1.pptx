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2" r:id="rId1"/>
  </p:sldMasterIdLst>
  <p:notesMasterIdLst>
    <p:notesMasterId r:id="rId15"/>
  </p:notes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86"/>
    <p:restoredTop sz="94743"/>
  </p:normalViewPr>
  <p:slideViewPr>
    <p:cSldViewPr snapToGrid="0">
      <p:cViewPr>
        <p:scale>
          <a:sx n="136" d="100"/>
          <a:sy n="136" d="100"/>
        </p:scale>
        <p:origin x="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85849-9BD9-964C-ACCC-A56E4B256875}" type="datetimeFigureOut">
              <a:rPr lang="en-US" smtClean="0"/>
              <a:t>3/11/25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B1056-0649-6C46-958C-013D8DEB2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7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www.cdc.gov</a:t>
            </a:r>
            <a:r>
              <a:rPr lang="en-US" dirty="0"/>
              <a:t>/flu/</a:t>
            </a:r>
            <a:r>
              <a:rPr lang="en-US" dirty="0" err="1"/>
              <a:t>whats</a:t>
            </a:r>
            <a:r>
              <a:rPr lang="en-US" dirty="0"/>
              <a:t>-new/flu-summary-2023-2024.html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B1056-0649-6C46-958C-013D8DEB24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67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B1056-0649-6C46-958C-013D8DEB24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57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5531-6CB6-1EF1-EB05-715F2DB82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4E060-EB77-B786-4214-7028DB7B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031F7-E00F-A95C-6281-76F74E775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3/11/25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65E6C-C346-0BA2-38C6-041DCF20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60698-BBA4-28CB-C431-3DB0D536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3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98FC-2316-729C-F3F8-FCC074F2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BB9E-C4B6-CAA5-9E10-EED740522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244C2-DB38-A058-C8DB-17938529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2FD74-6AA2-5FC6-79E6-A72040E98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F416-073F-01BE-012D-71CD2200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8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4EEE-CA93-7DC8-D6FF-2CABB6AE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7CE61-7C00-718F-000A-309D49D6E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86E1-8620-B5AD-7B3B-48A22619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06E5-7B56-20B0-8B8E-D7A3B9ED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0190D-4DDF-EB4F-8336-A38C93E6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44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E1D76-ACB2-1B05-89D4-195B26A42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D0DD-E092-D22D-8E37-6A242A102C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98F75-6731-2A16-2533-E082AA8E9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015EB-383C-9D3A-CC7F-15215FE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09A6A-D44F-9468-3A34-C5380E54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A63A8-8E5D-2131-9CCE-7261092A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7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1A6FC-F4B2-4677-48AA-1F38F975A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970B4-D82F-8B83-FDAD-F851FA10E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A2D77-3C9A-5D68-3EF6-621046904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F4EAAA-D082-4680-B247-59E3C8400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236FB-F646-7800-FA80-F88DF0124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A9F646-04E5-D565-C88C-88E31B995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CEBE0-176C-2A5D-A7C1-7E369E64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5DE3A5-51E4-CC18-C833-56C03356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8DDA-0FAB-BA8D-C8AF-1F79E4EA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23ED9-D18F-00CB-6EDD-A519C15C4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2A3F6-049F-C8FE-9444-A5F516CD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43A83-ACDF-9601-0479-553DD1BC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5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3695A-6CF1-522E-116D-4260FD9AC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8972E-BFB8-DD1B-1AD8-C60C11E1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E9140-A4F3-BC32-BAA8-F087770A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6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E79A-F6B3-2FB1-72E4-ECB364738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DBDF5-076D-FF53-42B8-609CB8108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C8152-A841-4D8A-B768-53AFF312E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31D84-1F44-B7FC-1930-725BD6A6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B71F0-1EBE-A14B-2A9D-251C4501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4C3A6-7F29-FD7E-47B8-8470EC192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9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CC78F-2301-5F8A-3C86-A6A2F38A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AF957C-5E9D-40B4-6EB0-EF3B666C8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A310D-73B7-3156-A3EC-C92ADA086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EBB08-F611-7DFB-76A4-FE589893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3D1FAA-DDEC-4953-FF32-BD9621E8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F23C3-70C0-40CE-960D-AFB61204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8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36875-3675-691B-D26B-2B1AF8B7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57054-3538-31C9-1173-4AC52BFAE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4BAE3-9DF6-AE60-8EA5-B859AE09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6F0B9-E76A-6E10-BCBF-F5D4F75BA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693-2F43-EDE6-EBEB-F8CF0CE2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05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3946F-723C-2E52-F439-4BF5447522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D43EA-074E-4BA6-978B-561B7DC2C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53E7F-0867-1A97-69B9-59718185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34B0-4498-6396-8B7A-B4213212F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40316-6651-3170-6A45-0A5331F7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3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873F2-EC23-4139-71FD-C4629C9F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EDD9D-AD4C-8603-358E-BE6EF19D1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0FB0C-8EAA-8503-DEEB-0DCECC222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3/11/25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A175E-7B68-9EBC-AF19-B3F91A518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A90B5-A316-3750-34D0-098C7C495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88A8D8-6514-51A2-F261-3B5F067A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15" r="13818" b="637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F0C9C8-DD4C-C1D3-55F7-885E78B92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000" b="1" i="0" dirty="0">
                <a:effectLst/>
                <a:latin typeface="+mn-lt"/>
                <a:cs typeface="Arial" panose="020B0604020202020204" pitchFamily="34" charset="0"/>
              </a:rPr>
              <a:t>Timing of Respiratory Epidemics Driving Seasonal Influenza-like Illness in the United States</a:t>
            </a:r>
            <a:endParaRPr lang="en-US" sz="3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E2C18F-3C2F-67D2-44E8-10869E3B0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George Dewey</a:t>
            </a:r>
          </a:p>
        </p:txBody>
      </p:sp>
    </p:spTree>
    <p:extLst>
      <p:ext uri="{BB962C8B-B14F-4D97-AF65-F5344CB8AC3E}">
        <p14:creationId xmlns:p14="http://schemas.microsoft.com/office/powerpoint/2010/main" val="4098553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0F336-44C7-DE37-B6CB-6D1DD3DF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Influenza-like Illness (ILI)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ECC65-467B-47B5-2C7C-6F91B550F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3454358"/>
          </a:xfrm>
        </p:spPr>
        <p:txBody>
          <a:bodyPr anchor="t">
            <a:normAutofit/>
          </a:bodyPr>
          <a:lstStyle/>
          <a:p>
            <a:r>
              <a:rPr lang="en-US" dirty="0"/>
              <a:t>Seasonal influenza-like illness (ILI) affected between 9 and 41 million individuals in the United States between 2010 and 2023</a:t>
            </a:r>
          </a:p>
          <a:p>
            <a:r>
              <a:rPr lang="en-US" dirty="0"/>
              <a:t>About 8% of the US population develops symptomatic ILI every year</a:t>
            </a:r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6E051-2041-96FF-9595-858781D4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E1B85C-0A74-EA52-530F-FD1096794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4EA83-5701-16F9-F6F4-CF98C9DC0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680736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Influenza-like Illness (ILI)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A11ED-D477-C439-1051-1B2E57712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275409"/>
            <a:ext cx="9688296" cy="4290504"/>
          </a:xfrm>
        </p:spPr>
        <p:txBody>
          <a:bodyPr anchor="t">
            <a:normAutofit fontScale="92500"/>
          </a:bodyPr>
          <a:lstStyle/>
          <a:p>
            <a:r>
              <a:rPr lang="en-US" dirty="0"/>
              <a:t>Substantial developments have been made in surveillance and prediction systems for ILI</a:t>
            </a:r>
          </a:p>
          <a:p>
            <a:r>
              <a:rPr lang="en-US" dirty="0"/>
              <a:t>However, misconceptions about ILI persist in the public health and medical spheres</a:t>
            </a:r>
          </a:p>
          <a:p>
            <a:pPr lvl="1"/>
            <a:r>
              <a:rPr lang="en-US" dirty="0"/>
              <a:t>ILI is driven only by influenza</a:t>
            </a:r>
          </a:p>
          <a:p>
            <a:pPr lvl="1"/>
            <a:r>
              <a:rPr lang="en-US" dirty="0"/>
              <a:t>Surges in ILI activity are caused by outbreaks of influenza A followed by outbreaks of influenza B</a:t>
            </a:r>
          </a:p>
          <a:p>
            <a:r>
              <a:rPr lang="en-US" dirty="0"/>
              <a:t>We know that ILI symptoms are associated with other pathogens</a:t>
            </a:r>
          </a:p>
          <a:p>
            <a:pPr lvl="1"/>
            <a:r>
              <a:rPr lang="en-US" dirty="0"/>
              <a:t>Respiratory syncytial virus (RSV)</a:t>
            </a:r>
          </a:p>
          <a:p>
            <a:pPr lvl="1"/>
            <a:r>
              <a:rPr lang="en-US" dirty="0"/>
              <a:t>Coronaviruses (SARS-CoV-2 included)</a:t>
            </a:r>
          </a:p>
          <a:p>
            <a:pPr lvl="1"/>
            <a:r>
              <a:rPr lang="en-US" dirty="0"/>
              <a:t>Many others (human </a:t>
            </a:r>
            <a:r>
              <a:rPr lang="en-US" dirty="0" err="1"/>
              <a:t>pneumovirus</a:t>
            </a:r>
            <a:r>
              <a:rPr lang="en-US" dirty="0"/>
              <a:t>, parainfluenza virus, etc.)</a:t>
            </a:r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1A77F4-B681-774F-C19E-3305E10B6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09372-3145-2A1E-3A81-EAD3D543A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5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C38C0-3657-A937-63F4-695ECBB3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D93C-73B7-68D2-F904-A645C8BF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84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National ILI activity, 2018-2019 to 2023-2024</a:t>
            </a:r>
          </a:p>
        </p:txBody>
      </p:sp>
      <p:pic>
        <p:nvPicPr>
          <p:cNvPr id="1026" name="Picture 2" descr="Figure 5. Percentage of Outpatient Visits for Respiratory Illness as Reported by ILINet, National Summary by Season — United States, 2018–2019 to 2023–2024 Seasons">
            <a:extLst>
              <a:ext uri="{FF2B5EF4-FFF2-40B4-BE49-F238E27FC236}">
                <a16:creationId xmlns:a16="http://schemas.microsoft.com/office/drawing/2014/main" id="{49264B16-99E3-53FE-1740-3F57A268C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57908" y="1043610"/>
            <a:ext cx="9876183" cy="5654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D6BA14-68B7-A507-7CF7-29C3CBD96035}"/>
              </a:ext>
            </a:extLst>
          </p:cNvPr>
          <p:cNvCxnSpPr>
            <a:cxnSpLocks/>
          </p:cNvCxnSpPr>
          <p:nvPr/>
        </p:nvCxnSpPr>
        <p:spPr>
          <a:xfrm flipH="1">
            <a:off x="3985591" y="1500810"/>
            <a:ext cx="1966292" cy="268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78BF7C-691E-FE57-B139-6A7E44664A53}"/>
              </a:ext>
            </a:extLst>
          </p:cNvPr>
          <p:cNvCxnSpPr/>
          <p:nvPr/>
        </p:nvCxnSpPr>
        <p:spPr>
          <a:xfrm flipH="1">
            <a:off x="4851951" y="1500810"/>
            <a:ext cx="1093305" cy="357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99E83D6-0460-26F9-EF71-87C4DCB915F5}"/>
              </a:ext>
            </a:extLst>
          </p:cNvPr>
          <p:cNvCxnSpPr>
            <a:cxnSpLocks/>
          </p:cNvCxnSpPr>
          <p:nvPr/>
        </p:nvCxnSpPr>
        <p:spPr>
          <a:xfrm>
            <a:off x="5951883" y="1500810"/>
            <a:ext cx="0" cy="5731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113ECF0-7FBE-9DE1-9702-F1184C7390E1}"/>
              </a:ext>
            </a:extLst>
          </p:cNvPr>
          <p:cNvSpPr/>
          <p:nvPr/>
        </p:nvSpPr>
        <p:spPr>
          <a:xfrm>
            <a:off x="4968737" y="1133061"/>
            <a:ext cx="2018472" cy="28823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peaks</a:t>
            </a:r>
          </a:p>
        </p:txBody>
      </p:sp>
    </p:spTree>
    <p:extLst>
      <p:ext uri="{BB962C8B-B14F-4D97-AF65-F5344CB8AC3E}">
        <p14:creationId xmlns:p14="http://schemas.microsoft.com/office/powerpoint/2010/main" val="311055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74B88-5582-4DBE-9E3E-5E5419580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04884D-4A13-7EE0-27E6-CFA03BA6D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548D8-0EC6-813A-E71F-6DBD4005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E99ED-89BF-EB9F-2895-A6CEA6065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335044"/>
            <a:ext cx="9688296" cy="4330260"/>
          </a:xfrm>
        </p:spPr>
        <p:txBody>
          <a:bodyPr anchor="t">
            <a:normAutofit/>
          </a:bodyPr>
          <a:lstStyle/>
          <a:p>
            <a:r>
              <a:rPr lang="en-US" dirty="0"/>
              <a:t>Anticipating the trajectory (start and peak) of the ILI season is advantageous for public health officials, medical providers, and the public</a:t>
            </a:r>
          </a:p>
          <a:p>
            <a:r>
              <a:rPr lang="en-US" dirty="0"/>
              <a:t>Improves resource allocation and health communication</a:t>
            </a:r>
          </a:p>
          <a:p>
            <a:r>
              <a:rPr lang="en-US" dirty="0"/>
              <a:t>Especially important for delivery of therapeutics to at-risk groups</a:t>
            </a:r>
          </a:p>
          <a:p>
            <a:pPr lvl="1"/>
            <a:r>
              <a:rPr lang="en-US" dirty="0"/>
              <a:t>RSV prophylaxis in infants must be delivered before the first RSV season</a:t>
            </a:r>
          </a:p>
          <a:p>
            <a:pPr lvl="1"/>
            <a:r>
              <a:rPr lang="en-US" dirty="0"/>
              <a:t>When to start influenza/RSV vaccinations?</a:t>
            </a:r>
          </a:p>
          <a:p>
            <a:pPr lvl="1"/>
            <a:endParaRPr lang="en-US" dirty="0"/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F146EB-BAEF-B4C8-9A00-7B0CEECD0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2B52E0-A8F9-91BB-A7AB-616C8D334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6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ADD58-3C56-9705-AB83-2F43F1B4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174B97E-1B3F-3698-B68F-BA1B481FC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775FD-029F-1F07-C539-B09FB7480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150A3-E08E-97C5-6547-9D0E42024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335044"/>
            <a:ext cx="9688296" cy="4330260"/>
          </a:xfrm>
        </p:spPr>
        <p:txBody>
          <a:bodyPr anchor="t">
            <a:normAutofit/>
          </a:bodyPr>
          <a:lstStyle/>
          <a:p>
            <a:r>
              <a:rPr lang="en-US" dirty="0"/>
              <a:t>What is the temporal relationship between epidemics of RSV and epidemics of influenza?</a:t>
            </a:r>
          </a:p>
          <a:p>
            <a:r>
              <a:rPr lang="en-US" dirty="0"/>
              <a:t>Does COVID-19 demonstrate seasonality like RSV and influenza?</a:t>
            </a:r>
          </a:p>
          <a:p>
            <a:r>
              <a:rPr lang="en-US" dirty="0"/>
              <a:t>Can we quantify the time differences between the onsets and peaks of epidemics using statistical techniques?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7C2869-056B-7519-E3D7-98A5B70B8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5ACEF6-40FD-0FED-00CD-C19B9CC37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71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5BF92-33EB-4A5B-F835-A37DCE9F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12F5D-B7AB-D457-C602-5900CC005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034C0-224B-B550-AB2E-ED83A221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D4325-2796-C7C9-57F7-E3FAD6B7F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335044"/>
            <a:ext cx="9688296" cy="4330260"/>
          </a:xfrm>
        </p:spPr>
        <p:txBody>
          <a:bodyPr anchor="t">
            <a:normAutofit/>
          </a:bodyPr>
          <a:lstStyle/>
          <a:p>
            <a:r>
              <a:rPr lang="en-US" dirty="0"/>
              <a:t>Predictors: time series data from the last 150 state-ILI seasons from CDC’s National Syndromic Surveillance Program (NSSP)</a:t>
            </a:r>
          </a:p>
          <a:p>
            <a:r>
              <a:rPr lang="en-US" dirty="0"/>
              <a:t>Outcome: state-level time series from CDC </a:t>
            </a:r>
            <a:r>
              <a:rPr lang="en-US" dirty="0" err="1"/>
              <a:t>ILINet</a:t>
            </a:r>
            <a:r>
              <a:rPr lang="en-US" dirty="0"/>
              <a:t> (the percentage of outpatient visits for respiratory illness)</a:t>
            </a:r>
          </a:p>
          <a:p>
            <a:r>
              <a:rPr lang="en-US" dirty="0"/>
              <a:t>NSSP started collecting emergency department volume associated with influenza, COVID-19, and RSV in October 2022</a:t>
            </a:r>
          </a:p>
          <a:p>
            <a:r>
              <a:rPr lang="en-US" dirty="0"/>
              <a:t>Data includes the 2022-23, 2023-24, and 2024-25 ILI seasons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5CE4D0-5F56-C753-5919-88F34E396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713F87-8F35-7000-6436-8B01EB68C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5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23744-C545-E9A5-D6B5-57CE0F00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6D2502-A084-B664-9A7A-81DC95BF2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62BCD8-487D-A91B-7A8B-A2021F7C5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6E2D7A-3FF7-3EAB-17A0-3CD9554931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6397" y="1335044"/>
                <a:ext cx="9688296" cy="4330260"/>
              </a:xfrm>
            </p:spPr>
            <p:txBody>
              <a:bodyPr anchor="t">
                <a:normAutofit/>
              </a:bodyPr>
              <a:lstStyle/>
              <a:p>
                <a:r>
                  <a:rPr lang="en-US" dirty="0"/>
                  <a:t>Stacked ridge regression to evaluate how each individual infection contributes to the overall trajectory of ILI in each state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𝐼𝐿𝐼</m:t>
                      </m:r>
                      <m:r>
                        <a:rPr lang="en-US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𝑓𝑙𝑢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𝑅𝑆𝑉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𝐶𝑂𝑉𝐼𝐷</m:t>
                          </m:r>
                        </m:sub>
                      </m:sSub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𝜖</m:t>
                      </m:r>
                    </m:oMath>
                  </m:oMathPara>
                </a14:m>
                <a:endParaRPr lang="en-US" sz="3200" dirty="0"/>
              </a:p>
              <a:p>
                <a:r>
                  <a:rPr lang="en-US" dirty="0"/>
                  <a:t>Lagged mixed-effects models and early warning system to characterize time differences between epidemics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6E2D7A-3FF7-3EAB-17A0-3CD9554931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6397" y="1335044"/>
                <a:ext cx="9688296" cy="4330260"/>
              </a:xfrm>
              <a:blipFill>
                <a:blip r:embed="rId2"/>
                <a:stretch>
                  <a:fillRect l="-1047" t="-2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C9EEE09-EB5E-E71E-15F7-9940B78D4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69571-1D5B-660F-320E-F1E1951F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4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77D7D-F960-6D80-1E48-8DEE29D4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701FD8-D2F6-E303-EEF6-DE2A624FF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B5A9B-228E-ECDF-C203-DA97FF79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725" y="236274"/>
            <a:ext cx="4833639" cy="668187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35595E-B442-297F-5A8D-522498055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1516FA-E107-0B8A-9AEE-B1D06C330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71C860-146B-AD11-AFD8-625493F2C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470" y="236274"/>
            <a:ext cx="6392911" cy="6392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F0620A-09CD-5B67-A772-64B8A76DB59B}"/>
              </a:ext>
            </a:extLst>
          </p:cNvPr>
          <p:cNvSpPr txBox="1"/>
          <p:nvPr/>
        </p:nvSpPr>
        <p:spPr>
          <a:xfrm>
            <a:off x="566531" y="963415"/>
            <a:ext cx="483363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general, the ILI season starts in late Oct/early Nov and ends by March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128/150 (84%) of analyzed state-ILI seasons, RSV epidemics reached their peak before epidemics of influenza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Concurrent peaks of RSV and influenza (15/150 seasons, 10%) and seasons where influenza epidemics peaked before RSV epidemics (19/150 seasons, 12.7%)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EC4E3B-5818-D265-4480-256B8800975D}"/>
              </a:ext>
            </a:extLst>
          </p:cNvPr>
          <p:cNvSpPr/>
          <p:nvPr/>
        </p:nvSpPr>
        <p:spPr>
          <a:xfrm>
            <a:off x="8418443" y="477078"/>
            <a:ext cx="168966" cy="5168348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EB94E4-A7B2-2C1B-8659-FEEC2C9CF220}"/>
              </a:ext>
            </a:extLst>
          </p:cNvPr>
          <p:cNvSpPr/>
          <p:nvPr/>
        </p:nvSpPr>
        <p:spPr>
          <a:xfrm>
            <a:off x="7302829" y="705678"/>
            <a:ext cx="785191" cy="92333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Peak of RSV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CDB4F66-5820-7701-2CCF-87079A0A06FE}"/>
              </a:ext>
            </a:extLst>
          </p:cNvPr>
          <p:cNvSpPr/>
          <p:nvPr/>
        </p:nvSpPr>
        <p:spPr>
          <a:xfrm>
            <a:off x="8587409" y="477078"/>
            <a:ext cx="168965" cy="51683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BF39E3-85C2-3C47-E9E8-751EBCD6D9BE}"/>
              </a:ext>
            </a:extLst>
          </p:cNvPr>
          <p:cNvSpPr/>
          <p:nvPr/>
        </p:nvSpPr>
        <p:spPr>
          <a:xfrm>
            <a:off x="5839154" y="477078"/>
            <a:ext cx="167610" cy="5168348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C3E8C0-35E4-871A-7835-A1B105AA98F1}"/>
              </a:ext>
            </a:extLst>
          </p:cNvPr>
          <p:cNvSpPr/>
          <p:nvPr/>
        </p:nvSpPr>
        <p:spPr>
          <a:xfrm>
            <a:off x="10914605" y="480355"/>
            <a:ext cx="168966" cy="5168348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AE7886E-F445-E5B9-4AB4-422707D3237E}"/>
              </a:ext>
            </a:extLst>
          </p:cNvPr>
          <p:cNvSpPr/>
          <p:nvPr/>
        </p:nvSpPr>
        <p:spPr>
          <a:xfrm>
            <a:off x="6044448" y="483558"/>
            <a:ext cx="168965" cy="51683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B2BC0C-8B35-4CD3-E96C-A5F66446F8E1}"/>
              </a:ext>
            </a:extLst>
          </p:cNvPr>
          <p:cNvSpPr/>
          <p:nvPr/>
        </p:nvSpPr>
        <p:spPr>
          <a:xfrm>
            <a:off x="11151489" y="477078"/>
            <a:ext cx="168965" cy="516834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5472B1A-AE9E-A0F1-8471-C2B3735A4F21}"/>
              </a:ext>
            </a:extLst>
          </p:cNvPr>
          <p:cNvSpPr/>
          <p:nvPr/>
        </p:nvSpPr>
        <p:spPr>
          <a:xfrm>
            <a:off x="9124752" y="705678"/>
            <a:ext cx="785191" cy="92333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Peak of flu</a:t>
            </a:r>
          </a:p>
        </p:txBody>
      </p:sp>
    </p:spTree>
    <p:extLst>
      <p:ext uri="{BB962C8B-B14F-4D97-AF65-F5344CB8AC3E}">
        <p14:creationId xmlns:p14="http://schemas.microsoft.com/office/powerpoint/2010/main" val="220646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3" grpId="0" animBg="1"/>
      <p:bldP spid="14" grpId="0" animBg="1"/>
      <p:bldP spid="15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85E86-0F21-45BD-F0DB-B0FA44BD0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763BD8-3E1D-555D-ABF7-20F6D173B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F902F6-B116-75EE-DA46-2B08C2590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Results from Early Warning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664FAC-93EB-7404-6A0B-D26ACD5D0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7D047B-C25B-E0A6-72D4-A5B69F133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FBE686D-B51B-FF30-2CB8-45619D709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388" y="1252330"/>
            <a:ext cx="6037830" cy="4833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34528-219B-5D98-31C1-D537DEF055D2}"/>
              </a:ext>
            </a:extLst>
          </p:cNvPr>
          <p:cNvSpPr txBox="1"/>
          <p:nvPr/>
        </p:nvSpPr>
        <p:spPr>
          <a:xfrm>
            <a:off x="7402140" y="1252330"/>
            <a:ext cx="41534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Median of 2.5 weeks between peaks of RSV and peaks of influenza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Median of 1 week between onsets of RSV and onsets of influenza*</a:t>
            </a:r>
          </a:p>
        </p:txBody>
      </p:sp>
    </p:spTree>
    <p:extLst>
      <p:ext uri="{BB962C8B-B14F-4D97-AF65-F5344CB8AC3E}">
        <p14:creationId xmlns:p14="http://schemas.microsoft.com/office/powerpoint/2010/main" val="420058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B8C33-37E3-DA02-4B7C-3E5ACD8B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D7F27E-6926-0ECA-C9B6-A0411FB87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97E54-3988-779B-9AC0-0AAE6F7A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511" y="261155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Results from Lagged Mixed-Effects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7A94DB-17C3-6772-3D4A-D41D271BC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1A1FA-57DA-B034-E462-B11BF8056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5872F7D-5A54-FCB2-DB95-1E7723F87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076095"/>
              </p:ext>
            </p:extLst>
          </p:nvPr>
        </p:nvGraphicFramePr>
        <p:xfrm>
          <a:off x="1310909" y="1367259"/>
          <a:ext cx="4298060" cy="4236086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212668">
                  <a:extLst>
                    <a:ext uri="{9D8B030D-6E8A-4147-A177-3AD203B41FA5}">
                      <a16:colId xmlns:a16="http://schemas.microsoft.com/office/drawing/2014/main" val="1918764121"/>
                    </a:ext>
                  </a:extLst>
                </a:gridCol>
                <a:gridCol w="1028464">
                  <a:extLst>
                    <a:ext uri="{9D8B030D-6E8A-4147-A177-3AD203B41FA5}">
                      <a16:colId xmlns:a16="http://schemas.microsoft.com/office/drawing/2014/main" val="153379096"/>
                    </a:ext>
                  </a:extLst>
                </a:gridCol>
                <a:gridCol w="1028464">
                  <a:extLst>
                    <a:ext uri="{9D8B030D-6E8A-4147-A177-3AD203B41FA5}">
                      <a16:colId xmlns:a16="http://schemas.microsoft.com/office/drawing/2014/main" val="854237526"/>
                    </a:ext>
                  </a:extLst>
                </a:gridCol>
                <a:gridCol w="1028464">
                  <a:extLst>
                    <a:ext uri="{9D8B030D-6E8A-4147-A177-3AD203B41FA5}">
                      <a16:colId xmlns:a16="http://schemas.microsoft.com/office/drawing/2014/main" val="1955239235"/>
                    </a:ext>
                  </a:extLst>
                </a:gridCol>
              </a:tblGrid>
              <a:tr h="38413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Fixed Effects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8664563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Beta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Standard Error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P-value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7414478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Intercept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0.2464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0.0148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&lt; 0.0001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28904787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0.0729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&lt; 0.0001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4742215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(lag 1)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-0.0202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&lt; 0.0001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6190128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(lag 2)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-0.0062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0.0237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4610525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(lag 3)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-0.0026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0.3401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8827093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(lag 4)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-0.0026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0.3410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4142201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(lag 5)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-0.0008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0.7549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1394331"/>
                  </a:ext>
                </a:extLst>
              </a:tr>
              <a:tr h="296304"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Flu (lag 6)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-0.0102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>
                          <a:effectLst/>
                        </a:rPr>
                        <a:t>0.0024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&lt; 0.0001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5396775"/>
                  </a:ext>
                </a:extLst>
              </a:tr>
              <a:tr h="1185216">
                <a:tc gridSpan="4">
                  <a:txBody>
                    <a:bodyPr/>
                    <a:lstStyle/>
                    <a:p>
                      <a:pPr marL="0" marR="0"/>
                      <a:r>
                        <a:rPr lang="en-US" sz="1100" kern="100" dirty="0">
                          <a:effectLst/>
                        </a:rPr>
                        <a:t>Supplementary Table 1: Lagged random intercepts model results assessing the association between lagged flu values and RSV. Random intercepts were included to account for both state-level variance and seasonal variance within states. The model accounts for seasonality by including semi-annual and annual seasonality terms.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45440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57D786-7F83-9145-4E1B-5E9AE63039DF}"/>
                  </a:ext>
                </a:extLst>
              </p:cNvPr>
              <p:cNvSpPr txBox="1"/>
              <p:nvPr/>
            </p:nvSpPr>
            <p:spPr>
              <a:xfrm>
                <a:off x="5887844" y="1284842"/>
                <a:ext cx="4131801" cy="2064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𝑅𝑆𝑉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4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5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𝑓𝑙𝑢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𝑙𝑎𝑔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6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num>
                                <m:den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52</m:t>
                                  </m:r>
                                </m:den>
                              </m:f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52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52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52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𝑠𝑒𝑎𝑠𝑜𝑛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57D786-7F83-9145-4E1B-5E9AE6303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844" y="1284842"/>
                <a:ext cx="4131801" cy="2064989"/>
              </a:xfrm>
              <a:prstGeom prst="rect">
                <a:avLst/>
              </a:prstGeom>
              <a:blipFill>
                <a:blip r:embed="rId3"/>
                <a:stretch>
                  <a:fillRect r="-238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E343769-8334-1C1D-4D5D-32583126436E}"/>
              </a:ext>
            </a:extLst>
          </p:cNvPr>
          <p:cNvSpPr txBox="1"/>
          <p:nvPr/>
        </p:nvSpPr>
        <p:spPr>
          <a:xfrm>
            <a:off x="5887844" y="3605561"/>
            <a:ext cx="5501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Flu values from 1 week prior and 2 weeks prior are associated with RSV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Flu values from 3-5 weeks are small and non-significant</a:t>
            </a:r>
          </a:p>
        </p:txBody>
      </p:sp>
    </p:spTree>
    <p:extLst>
      <p:ext uri="{BB962C8B-B14F-4D97-AF65-F5344CB8AC3E}">
        <p14:creationId xmlns:p14="http://schemas.microsoft.com/office/powerpoint/2010/main" val="1433769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E34B8-AECD-1CCA-04EB-B2C131FD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CF4F4A-3E0E-832F-3DB0-CEA4A4AD7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84D22-3E01-4419-02C6-6382CF42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A24E4-B929-87A4-07A8-D9836AB9A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335044"/>
            <a:ext cx="9688296" cy="4330260"/>
          </a:xfrm>
        </p:spPr>
        <p:txBody>
          <a:bodyPr anchor="t">
            <a:normAutofit/>
          </a:bodyPr>
          <a:lstStyle/>
          <a:p>
            <a:r>
              <a:rPr lang="en-US" dirty="0"/>
              <a:t>RSV epidemics frequently precede epidemics of influenza</a:t>
            </a:r>
          </a:p>
          <a:p>
            <a:r>
              <a:rPr lang="en-US" dirty="0"/>
              <a:t>The time difference between the onsets and peaks of the two epidemics is between 1-3 weeks on average</a:t>
            </a:r>
          </a:p>
          <a:p>
            <a:r>
              <a:rPr lang="en-US" dirty="0"/>
              <a:t>Public health officials and medical providers should reasonably expect surges in RSV cases in early fall to represent the start of the ILI season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489E58-251B-7DC6-15EB-6B3551AEF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D26281-59D9-80E1-49E1-6756956ED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8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4BAA5-1AEB-5F67-6357-664A2B8EF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AE09E5-FC03-DA80-6D0E-1D406F04E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41EBD-4C3E-3BD3-292E-8ADDEBDCD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750309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A126C-FE6E-A8C5-C70A-F018286DB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335044"/>
            <a:ext cx="9688296" cy="4330260"/>
          </a:xfrm>
        </p:spPr>
        <p:txBody>
          <a:bodyPr anchor="t">
            <a:normAutofit/>
          </a:bodyPr>
          <a:lstStyle/>
          <a:p>
            <a:r>
              <a:rPr lang="en-US" dirty="0"/>
              <a:t>Wait for more data</a:t>
            </a:r>
          </a:p>
          <a:p>
            <a:pPr lvl="1"/>
            <a:r>
              <a:rPr lang="en-US" dirty="0"/>
              <a:t>Currently in the 24-25 ILI season – ongoing flu outbreaks!</a:t>
            </a:r>
          </a:p>
          <a:p>
            <a:r>
              <a:rPr lang="en-US" dirty="0"/>
              <a:t>Refinement of the regression algorithm </a:t>
            </a:r>
          </a:p>
          <a:p>
            <a:pPr lvl="1"/>
            <a:r>
              <a:rPr lang="en-US" dirty="0"/>
              <a:t>Even after using 10-fold cross validation, the lambda parameter for ridge regression is not optimized</a:t>
            </a:r>
          </a:p>
          <a:p>
            <a:pPr lvl="1"/>
            <a:r>
              <a:rPr lang="en-US" dirty="0"/>
              <a:t>Due to multicollinearity, one signal can be dropped</a:t>
            </a:r>
          </a:p>
          <a:p>
            <a:pPr lvl="1"/>
            <a:r>
              <a:rPr lang="en-US" dirty="0"/>
              <a:t>Adaptive or MSE-based lambda selection</a:t>
            </a:r>
          </a:p>
          <a:p>
            <a:r>
              <a:rPr lang="en-US" dirty="0"/>
              <a:t>Update visuals</a:t>
            </a:r>
          </a:p>
          <a:p>
            <a:pPr lvl="1"/>
            <a:r>
              <a:rPr lang="en-US" sz="2400" dirty="0"/>
              <a:t>Next: show distribution of time differences using violin plot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7E1EFA-A4C8-627A-4003-39B243B1B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108943-6777-956C-E582-7A7FC4BD8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09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</TotalTime>
  <Words>770</Words>
  <Application>Microsoft Macintosh PowerPoint</Application>
  <PresentationFormat>Widescreen</PresentationFormat>
  <Paragraphs>103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Timing of Respiratory Epidemics Driving Seasonal Influenza-like Illness in the United States</vt:lpstr>
      <vt:lpstr>Influenza-like Illness (ILI)</vt:lpstr>
      <vt:lpstr>Influenza-like Illness (ILI)</vt:lpstr>
      <vt:lpstr>National ILI activity, 2018-2019 to 2023-2024</vt:lpstr>
      <vt:lpstr>Rationale</vt:lpstr>
      <vt:lpstr>Research Questions</vt:lpstr>
      <vt:lpstr>Data</vt:lpstr>
      <vt:lpstr>Methods</vt:lpstr>
      <vt:lpstr>Results</vt:lpstr>
      <vt:lpstr>Results from Early Warning System</vt:lpstr>
      <vt:lpstr>Results from Lagged Mixed-Effects Model</vt:lpstr>
      <vt:lpstr>Discussion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Dewey, George</dc:creator>
  <cp:lastModifiedBy>Dewey, George</cp:lastModifiedBy>
  <cp:revision>2</cp:revision>
  <dcterms:created xsi:type="dcterms:W3CDTF">2025-03-11T13:55:18Z</dcterms:created>
  <dcterms:modified xsi:type="dcterms:W3CDTF">2025-03-11T17:06:14Z</dcterms:modified>
</cp:coreProperties>
</file>